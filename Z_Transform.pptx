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4131" y="2011680"/>
            <a:ext cx="6537960" cy="79406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rPr lang="en-US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Z transform is a</a:t>
            </a:r>
            <a:r>
              <a:rPr sz="2000" dirty="0">
                <a:solidFill>
                  <a:srgbClr val="000000"/>
                </a:solidFill>
                <a:latin typeface="Arial"/>
              </a:rPr>
              <a:t> compact way to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analyse</a:t>
            </a:r>
            <a:r>
              <a:rPr sz="2000" dirty="0">
                <a:solidFill>
                  <a:srgbClr val="000000"/>
                </a:solidFill>
                <a:latin typeface="Arial"/>
              </a:rPr>
              <a:t> discrete-time 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       </a:t>
            </a:r>
            <a:r>
              <a:rPr sz="2000" dirty="0">
                <a:solidFill>
                  <a:srgbClr val="000000"/>
                </a:solidFill>
                <a:latin typeface="Arial"/>
              </a:rPr>
              <a:t>signals and systems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.</a:t>
            </a:r>
            <a:endParaRPr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2568" y="2742461"/>
            <a:ext cx="6739522" cy="226215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130" y="2852879"/>
            <a:ext cx="6537960" cy="204312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rPr b="1" i="1" u="sng" dirty="0">
                <a:solidFill>
                  <a:srgbClr val="000000"/>
                </a:solidFill>
                <a:latin typeface="Arial"/>
              </a:rPr>
              <a:t>What it does</a:t>
            </a:r>
            <a:r>
              <a:rPr lang="en-US" b="1" i="1" u="sng" dirty="0">
                <a:solidFill>
                  <a:srgbClr val="000000"/>
                </a:solidFill>
                <a:latin typeface="Arial"/>
              </a:rPr>
              <a:t>?</a:t>
            </a:r>
            <a:endParaRPr b="1" i="1" u="sng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5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Z-transform is a powerful mathematical tool used to convert the difference equations into algebraic equations. To solve the difference equations which are in time domain, they are converted first into algebraic equations in z-domain using Z-transform, the algebraic equations are manipulated in z-domain and the result obtained is converted back into time domain using inverse Z-transform.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4130" y="5019544"/>
            <a:ext cx="2202426" cy="54784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rPr dirty="0">
                <a:solidFill>
                  <a:srgbClr val="000000"/>
                </a:solidFill>
                <a:latin typeface="Arial"/>
              </a:rPr>
              <a:t>x[n]  →  X(z)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855" y="5546117"/>
            <a:ext cx="2392976" cy="37856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solidFill>
                  <a:srgbClr val="000000"/>
                </a:solidFill>
                <a:latin typeface="Arial"/>
              </a:rPr>
              <a:t>Time domain → z-domain</a:t>
            </a: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0488277-48FB-D665-DBFC-66CDEC720912}"/>
              </a:ext>
            </a:extLst>
          </p:cNvPr>
          <p:cNvSpPr/>
          <p:nvPr/>
        </p:nvSpPr>
        <p:spPr>
          <a:xfrm>
            <a:off x="142568" y="44173"/>
            <a:ext cx="11906864" cy="192252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Arial"/>
              </a:defRPr>
            </a:pPr>
            <a:r>
              <a:rPr lang="en-IN" sz="4000" b="1" i="1" dirty="0">
                <a:solidFill>
                  <a:srgbClr val="000000"/>
                </a:solidFill>
                <a:latin typeface="Arial"/>
              </a:rPr>
              <a:t>Z-TRANSFORM</a:t>
            </a:r>
          </a:p>
          <a:p>
            <a:pPr algn="ctr">
              <a:defRPr>
                <a:solidFill>
                  <a:srgbClr val="000000"/>
                </a:solidFill>
                <a:latin typeface="Arial"/>
              </a:defRPr>
            </a:pP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E968D9-ECA1-75F3-1B49-280DE779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53" y="399194"/>
            <a:ext cx="1082134" cy="10897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AE6652-879E-16B6-3F26-A54216F9F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240" y="302433"/>
            <a:ext cx="1158340" cy="121930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40312A-F2FD-5D90-6657-544F5819FCD4}"/>
              </a:ext>
            </a:extLst>
          </p:cNvPr>
          <p:cNvSpPr/>
          <p:nvPr/>
        </p:nvSpPr>
        <p:spPr>
          <a:xfrm>
            <a:off x="7157884" y="2224959"/>
            <a:ext cx="4891548" cy="27796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u="sng" dirty="0"/>
              <a:t>Z-transform has two types:</a:t>
            </a:r>
          </a:p>
          <a:p>
            <a:pPr algn="ctr"/>
            <a:r>
              <a:rPr lang="en-IN" b="1" dirty="0"/>
              <a:t>unilateral(one-sided) and bilateral(two-sided)</a:t>
            </a:r>
            <a:r>
              <a:rPr lang="en-IN" dirty="0"/>
              <a:t>. The unilateral Z-transform considers samples from </a:t>
            </a:r>
            <a:r>
              <a:rPr lang="en-IN" b="1" dirty="0"/>
              <a:t>zero to infinity</a:t>
            </a:r>
            <a:r>
              <a:rPr lang="en-IN" dirty="0"/>
              <a:t> and is mainly used for solving difference equations with initial conditions. The bilateral Z-transform considers samples from </a:t>
            </a:r>
            <a:r>
              <a:rPr lang="en-IN" b="1" dirty="0"/>
              <a:t>negative infinity to positive infinity </a:t>
            </a:r>
            <a:r>
              <a:rPr lang="en-IN" dirty="0"/>
              <a:t>and is used for general signal and system analysis, including the region of convergence.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C4ED2F03-6271-195E-5823-C209594EE21F}"/>
              </a:ext>
            </a:extLst>
          </p:cNvPr>
          <p:cNvSpPr/>
          <p:nvPr/>
        </p:nvSpPr>
        <p:spPr>
          <a:xfrm>
            <a:off x="3099261" y="5115037"/>
            <a:ext cx="539841" cy="1679929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C3E53CC-56C2-1C7B-BF76-1E7052AB3ECD}"/>
              </a:ext>
            </a:extLst>
          </p:cNvPr>
          <p:cNvSpPr/>
          <p:nvPr/>
        </p:nvSpPr>
        <p:spPr>
          <a:xfrm>
            <a:off x="11498579" y="5133897"/>
            <a:ext cx="539841" cy="167992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6190FD-7189-7B0F-FCFC-E831EECF27F2}"/>
                  </a:ext>
                </a:extLst>
              </p:cNvPr>
              <p:cNvSpPr txBox="1"/>
              <p:nvPr/>
            </p:nvSpPr>
            <p:spPr>
              <a:xfrm>
                <a:off x="3639103" y="5186018"/>
                <a:ext cx="785947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b="1" dirty="0"/>
                  <a:t>Bilateral Z-transform:</a:t>
                </a:r>
                <a:r>
                  <a:rPr lang="en-IN" dirty="0"/>
                  <a:t> Used when the signal has nonzero values at both negative and positive time </a:t>
                </a:r>
                <a:r>
                  <a:rPr lang="en-IN" dirty="0" err="1"/>
                  <a:t>indices.</a:t>
                </a:r>
                <a:r>
                  <a:rPr lang="en-IN" b="1" dirty="0"/>
                  <a:t> {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=−∞</m:t>
                    </m:r>
                  </m:oMath>
                </a14:m>
                <a:r>
                  <a:rPr lang="en-IN" dirty="0"/>
                  <a:t>to +∞}.</a:t>
                </a:r>
              </a:p>
              <a:p>
                <a:pPr lvl="0"/>
                <a:endParaRPr lang="en-IN" b="1" dirty="0"/>
              </a:p>
              <a:p>
                <a:pPr lvl="0"/>
                <a:r>
                  <a:rPr lang="en-IN" b="1" dirty="0"/>
                  <a:t>Unilateral Z-transform:</a:t>
                </a:r>
                <a:r>
                  <a:rPr lang="en-IN" dirty="0"/>
                  <a:t> Used when analysing a signal from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onward, especially when initial conditions are given.{n=0 to +∞}.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6190FD-7189-7B0F-FCFC-E831EECF2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103" y="5186018"/>
                <a:ext cx="7859477" cy="1754326"/>
              </a:xfrm>
              <a:prstGeom prst="rect">
                <a:avLst/>
              </a:prstGeom>
              <a:blipFill>
                <a:blip r:embed="rId4"/>
                <a:stretch>
                  <a:fillRect l="-698" t="-2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" y="118829"/>
            <a:ext cx="1051560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rPr lang="en-US" dirty="0">
                <a:solidFill>
                  <a:srgbClr val="000000"/>
                </a:solidFill>
                <a:latin typeface="Arial"/>
              </a:rPr>
              <a:t>Equations</a:t>
            </a:r>
            <a:r>
              <a:rPr dirty="0">
                <a:solidFill>
                  <a:srgbClr val="000000"/>
                </a:solidFill>
                <a:latin typeface="Arial"/>
              </a:rPr>
              <a:t>, ROC &amp;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Advantages </a:t>
            </a:r>
            <a:r>
              <a:rPr lang="en-IN" sz="2800" b="1" dirty="0">
                <a:solidFill>
                  <a:srgbClr val="000000"/>
                </a:solidFill>
                <a:latin typeface="Arial"/>
              </a:rPr>
              <a:t>of Z-transform.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</a:rPr>
              <a:t>Bilateral Z-transform is the main general definition; unilateral form is useful with initial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68" y="1444704"/>
            <a:ext cx="5166360" cy="471029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Arial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193" y="1808620"/>
            <a:ext cx="516636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rPr lang="en-US" sz="1600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</a:t>
            </a:r>
            <a:r>
              <a:rPr sz="1600" dirty="0">
                <a:solidFill>
                  <a:srgbClr val="000000"/>
                </a:solidFill>
                <a:latin typeface="Arial"/>
              </a:rPr>
              <a:t>BILATERAL (TWO-SIDED)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" y="2190055"/>
            <a:ext cx="5120640" cy="47089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rPr dirty="0">
                <a:solidFill>
                  <a:srgbClr val="000000"/>
                </a:solidFill>
                <a:latin typeface="Arial"/>
              </a:rPr>
              <a:t>X(z) = Σ x[n] z⁻ⁿ,   n = −∞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To </a:t>
            </a:r>
            <a:r>
              <a:rPr dirty="0">
                <a:solidFill>
                  <a:srgbClr val="000000"/>
                </a:solidFill>
                <a:latin typeface="Arial"/>
              </a:rPr>
              <a:t>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268" y="2699425"/>
            <a:ext cx="512064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rPr lang="en-US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</a:t>
            </a:r>
            <a:r>
              <a:rPr sz="1600" dirty="0">
                <a:solidFill>
                  <a:srgbClr val="000000"/>
                </a:solidFill>
                <a:latin typeface="Arial"/>
              </a:rPr>
              <a:t>UNILATERAL (ONE-SIDED)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0193" y="3076922"/>
            <a:ext cx="5120640" cy="440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rPr dirty="0">
                <a:solidFill>
                  <a:srgbClr val="000000"/>
                </a:solidFill>
                <a:latin typeface="Arial"/>
              </a:rPr>
              <a:t>X⁺(z) = Σ x[n] z⁻ⁿ,   n = 0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To </a:t>
            </a:r>
            <a:r>
              <a:rPr dirty="0">
                <a:solidFill>
                  <a:srgbClr val="000000"/>
                </a:solidFill>
                <a:latin typeface="Arial"/>
              </a:rPr>
              <a:t>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708" y="3781078"/>
            <a:ext cx="5074920" cy="60939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lang="en-US" b="1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 </a:t>
            </a:r>
            <a:r>
              <a:rPr b="1" dirty="0">
                <a:solidFill>
                  <a:srgbClr val="000000"/>
                </a:solidFill>
                <a:latin typeface="Arial"/>
              </a:rPr>
              <a:t>ROC (Region of Convergence): </a:t>
            </a:r>
            <a:r>
              <a:rPr dirty="0">
                <a:solidFill>
                  <a:srgbClr val="000000"/>
                </a:solidFill>
                <a:latin typeface="Arial"/>
              </a:rPr>
              <a:t>values of z for which the defining infinite sum converges.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226" y="4751517"/>
            <a:ext cx="5074920" cy="101463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lang="en-US" sz="1600" b="1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 </a:t>
            </a:r>
            <a:r>
              <a:rPr sz="1600" b="1" dirty="0">
                <a:solidFill>
                  <a:srgbClr val="000000"/>
                </a:solidFill>
                <a:latin typeface="Arial"/>
              </a:rPr>
              <a:t>Common causal sequence:</a:t>
            </a:r>
          </a:p>
          <a:p>
            <a:pPr>
              <a:spcAft>
                <a:spcPts val="5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  <a:latin typeface="Arial"/>
              </a:rPr>
              <a:t>x[n] = aⁿu[n]  ⇒  X(z) = 1/(1 − az⁻¹) = z/(z − a)</a:t>
            </a:r>
          </a:p>
          <a:p>
            <a:pPr>
              <a:spcAft>
                <a:spcPts val="5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  <a:latin typeface="Arial"/>
              </a:rPr>
              <a:t>ROC: |z| &gt; |a|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3660" y="1572768"/>
            <a:ext cx="50292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rPr lang="en-US" sz="1600" dirty="0">
                <a:solidFill>
                  <a:srgbClr val="000000"/>
                </a:solidFill>
                <a:latin typeface="Arial"/>
              </a:rPr>
              <a:t>Advantages </a:t>
            </a:r>
            <a:r>
              <a:rPr lang="en-IN" sz="1600" b="1" dirty="0">
                <a:solidFill>
                  <a:srgbClr val="000000"/>
                </a:solidFill>
                <a:latin typeface="Arial"/>
              </a:rPr>
              <a:t>of Z-transform: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20970" y="1886407"/>
            <a:ext cx="4983480" cy="273151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2000" dirty="0">
                <a:solidFill>
                  <a:srgbClr val="000000"/>
                </a:solidFill>
                <a:latin typeface="Arial"/>
              </a:rPr>
              <a:t>• </a:t>
            </a:r>
            <a:r>
              <a:rPr lang="en-IN" sz="1600" dirty="0">
                <a:solidFill>
                  <a:srgbClr val="000000"/>
                </a:solidFill>
                <a:latin typeface="Arial"/>
              </a:rPr>
              <a:t>The Z-transform converts the difference equations of a discrete-time system into linear algebraic equations so that the analysis become easy and simple. </a:t>
            </a:r>
            <a:endParaRPr lang="en-IN"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3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2000" dirty="0">
                <a:solidFill>
                  <a:srgbClr val="000000"/>
                </a:solidFill>
                <a:latin typeface="Arial"/>
              </a:rPr>
              <a:t>• </a:t>
            </a:r>
            <a:r>
              <a:rPr lang="en-IN" sz="1600" dirty="0">
                <a:solidFill>
                  <a:srgbClr val="000000"/>
                </a:solidFill>
                <a:latin typeface="Arial"/>
              </a:rPr>
              <a:t>convolution in time domain is converted into multiplication in z-domain. </a:t>
            </a:r>
          </a:p>
          <a:p>
            <a:pPr>
              <a:spcAft>
                <a:spcPts val="3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   </a:t>
            </a:r>
            <a:r>
              <a:rPr sz="2000" dirty="0">
                <a:solidFill>
                  <a:srgbClr val="000000"/>
                </a:solidFill>
                <a:latin typeface="Arial"/>
              </a:rPr>
              <a:t>x[n] * h[n] ↔ X(z)H(z)</a:t>
            </a:r>
          </a:p>
          <a:p>
            <a:pPr>
              <a:spcAft>
                <a:spcPts val="3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2000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z-transform exists for most of the signals for which discrete-time Fourier transform (DTFT) does not exist. 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94E0F-BB7D-E07C-F6DB-AF7F35DBB5DE}"/>
              </a:ext>
            </a:extLst>
          </p:cNvPr>
          <p:cNvSpPr txBox="1"/>
          <p:nvPr/>
        </p:nvSpPr>
        <p:spPr>
          <a:xfrm>
            <a:off x="6581714" y="4521947"/>
            <a:ext cx="2356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Limitation: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32338F-5E61-366C-3A24-C1131F6E106F}"/>
              </a:ext>
            </a:extLst>
          </p:cNvPr>
          <p:cNvSpPr txBox="1"/>
          <p:nvPr/>
        </p:nvSpPr>
        <p:spPr>
          <a:xfrm>
            <a:off x="6618961" y="4931563"/>
            <a:ext cx="3970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"/>
              </a:rPr>
              <a:t>• </a:t>
            </a:r>
            <a:r>
              <a:rPr lang="en-IN" dirty="0"/>
              <a:t>Frequency domain response cannot be achieved and cannot be plotted.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2839"/>
            <a:ext cx="7315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7AB92236-1775-0978-E795-F79E54BE906C}"/>
              </a:ext>
            </a:extLst>
          </p:cNvPr>
          <p:cNvSpPr/>
          <p:nvPr/>
        </p:nvSpPr>
        <p:spPr>
          <a:xfrm>
            <a:off x="108154" y="683086"/>
            <a:ext cx="5014452" cy="70394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Arial"/>
              </a:defRPr>
            </a:pPr>
            <a:r>
              <a:rPr lang="en-IN" sz="2800" b="1" dirty="0" err="1">
                <a:solidFill>
                  <a:srgbClr val="000000"/>
                </a:solidFill>
                <a:latin typeface="Arial"/>
              </a:rPr>
              <a:t>Q.Find</a:t>
            </a:r>
            <a:r>
              <a:rPr lang="en-IN" sz="2800" b="1" dirty="0">
                <a:solidFill>
                  <a:srgbClr val="000000"/>
                </a:solidFill>
                <a:latin typeface="Arial"/>
              </a:rPr>
              <a:t> Z-transform d(n - 4). </a:t>
            </a:r>
            <a:endParaRPr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CF1E63-AED9-9FDC-B4CB-DD99142F7947}"/>
                  </a:ext>
                </a:extLst>
              </p:cNvPr>
              <p:cNvSpPr txBox="1"/>
              <p:nvPr/>
            </p:nvSpPr>
            <p:spPr>
              <a:xfrm>
                <a:off x="-49161" y="1375631"/>
                <a:ext cx="7452852" cy="3037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𝑥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𝛿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−4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We know that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𝛿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−4</m:t>
                          </m:r>
                        </m:e>
                      </m:d>
                      <m:r>
                        <a:rPr lang="en-IN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/>
                              </m:ctrlPr>
                            </m:mPr>
                            <m:mr>
                              <m:e>
                                <m:r>
                                  <a:rPr lang="en-IN"/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/>
                                  <m:t>for </m:t>
                                </m:r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=4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/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∴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𝑧</m:t>
                        </m:r>
                      </m:e>
                    </m:d>
                    <m:r>
                      <a:rPr lang="en-IN"/>
                      <m:t>=</m:t>
                    </m:r>
                    <m:r>
                      <a:rPr lang="en-IN" i="1"/>
                      <m:t>𝑍</m:t>
                    </m:r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𝛿</m:t>
                        </m:r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𝑛</m:t>
                            </m:r>
                            <m:r>
                              <a:rPr lang="en-IN"/>
                              <m:t>−4</m:t>
                            </m:r>
                          </m:e>
                        </m:d>
                      </m:e>
                    </m:d>
                    <m:r>
                      <a:rPr lang="en-IN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IN" i="1"/>
                        </m:ctrlPr>
                      </m:naryPr>
                      <m:sub>
                        <m:r>
                          <a:rPr lang="en-IN" i="1"/>
                          <m:t>𝑛</m:t>
                        </m:r>
                        <m:r>
                          <a:rPr lang="en-IN"/>
                          <m:t>=−∞</m:t>
                        </m:r>
                      </m:sub>
                      <m:sup>
                        <m:r>
                          <a:rPr lang="en-IN"/>
                          <m:t>∞</m:t>
                        </m:r>
                      </m:sup>
                      <m:e>
                        <m:r>
                          <a:rPr lang="en-IN" i="1"/>
                          <m:t>𝛿</m:t>
                        </m:r>
                      </m:e>
                    </m:nary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  <m:r>
                          <a:rPr lang="en-IN"/>
                          <m:t>−4</m:t>
                        </m:r>
                      </m:e>
                    </m:d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𝑧</m:t>
                        </m:r>
                      </m:e>
                      <m:sup>
                        <m:r>
                          <a:rPr lang="en-IN"/>
                          <m:t>−</m:t>
                        </m:r>
                        <m:r>
                          <a:rPr lang="en-IN" i="1"/>
                          <m:t>𝑛</m:t>
                        </m:r>
                      </m:sup>
                    </m:sSup>
                    <m:r>
                      <a:rPr lang="en-IN"/>
                      <m:t>=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𝑧</m:t>
                        </m:r>
                      </m:e>
                      <m:sup>
                        <m:r>
                          <a:rPr lang="en-IN"/>
                          <m:t>−4</m:t>
                        </m:r>
                      </m:sup>
                    </m:sSup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Hence,</a:t>
                </a:r>
              </a:p>
              <a:p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i="1"/>
                          </m:ctrlPr>
                        </m:borderBoxPr>
                        <m:e>
                          <m:r>
                            <a:rPr lang="en-IN" i="1"/>
                            <m:t>𝑍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𝛿</m:t>
                              </m:r>
                              <m:d>
                                <m:dPr>
                                  <m:ctrlPr>
                                    <a:rPr lang="en-IN" i="1"/>
                                  </m:ctrlPr>
                                </m:dPr>
                                <m:e>
                                  <m:r>
                                    <a:rPr lang="en-IN" i="1"/>
                                    <m:t>𝑛</m:t>
                                  </m:r>
                                  <m:r>
                                    <a:rPr lang="en-IN"/>
                                    <m:t>−4</m:t>
                                  </m:r>
                                </m:e>
                              </m:d>
                            </m:e>
                          </m:d>
                          <m:r>
                            <a:rPr lang="en-IN"/>
                            <m:t>=</m:t>
                          </m:r>
                          <m:sSup>
                            <m:sSupPr>
                              <m:ctrlPr>
                                <a:rPr lang="en-IN" i="1"/>
                              </m:ctrlPr>
                            </m:sSupPr>
                            <m:e>
                              <m:r>
                                <a:rPr lang="en-IN" i="1"/>
                                <m:t>𝑧</m:t>
                              </m:r>
                            </m:e>
                            <m:sup>
                              <m:r>
                                <a:rPr lang="en-IN"/>
                                <m:t>−4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ROC:</a:t>
                </a:r>
                <a:r>
                  <a:rPr lang="en-IN" dirty="0"/>
                  <a:t> Entire z-plane except at </a:t>
                </a:r>
                <a14:m>
                  <m:oMath xmlns:m="http://schemas.openxmlformats.org/officeDocument/2006/math">
                    <m:r>
                      <a:rPr lang="en-IN" i="1"/>
                      <m:t>𝑧</m:t>
                    </m:r>
                    <m:r>
                      <a:rPr lang="en-IN"/>
                      <m:t>=0</m:t>
                    </m:r>
                  </m:oMath>
                </a14:m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CF1E63-AED9-9FDC-B4CB-DD99142F7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161" y="1375631"/>
                <a:ext cx="7452852" cy="3037178"/>
              </a:xfrm>
              <a:prstGeom prst="rect">
                <a:avLst/>
              </a:prstGeom>
              <a:blipFill>
                <a:blip r:embed="rId2"/>
                <a:stretch>
                  <a:fillRect l="-7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FB7F43C-C66F-7EC6-0CBE-7BE85A76C513}"/>
                  </a:ext>
                </a:extLst>
              </p:cNvPr>
              <p:cNvSpPr/>
              <p:nvPr/>
            </p:nvSpPr>
            <p:spPr>
              <a:xfrm>
                <a:off x="5260258" y="0"/>
                <a:ext cx="6390968" cy="117279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Q.Find</a:t>
                </a:r>
                <a:r>
                  <a:rPr lang="en-US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Z-transform and ROC of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IN" sz="2400" b="1" i="1"/>
                        <m:t>𝒙</m:t>
                      </m:r>
                      <m:d>
                        <m:dPr>
                          <m:ctrlPr>
                            <a:rPr lang="en-IN" sz="2400" b="1" i="1"/>
                          </m:ctrlPr>
                        </m:dPr>
                        <m:e>
                          <m:r>
                            <a:rPr lang="en-IN" sz="2400" b="1" i="1"/>
                            <m:t>𝒏</m:t>
                          </m:r>
                        </m:e>
                      </m:d>
                      <m:r>
                        <a:rPr lang="en-IN" sz="2400" b="1"/>
                        <m:t>=</m:t>
                      </m:r>
                      <m:sSup>
                        <m:sSupPr>
                          <m:ctrlPr>
                            <a:rPr lang="en-IN" sz="2400" b="1" i="1"/>
                          </m:ctrlPr>
                        </m:sSupPr>
                        <m:e>
                          <m:r>
                            <a:rPr lang="en-IN" sz="2400" b="1" i="1"/>
                            <m:t>𝒂</m:t>
                          </m:r>
                        </m:e>
                        <m:sup>
                          <m:r>
                            <a:rPr lang="en-IN" sz="2400" b="1" i="1"/>
                            <m:t>𝒏</m:t>
                          </m:r>
                        </m:sup>
                      </m:sSup>
                      <m:r>
                        <a:rPr lang="en-IN" sz="2400" b="1" i="1"/>
                        <m:t>𝒖</m:t>
                      </m:r>
                      <m:d>
                        <m:dPr>
                          <m:ctrlPr>
                            <a:rPr lang="en-IN" sz="2400" b="1" i="1"/>
                          </m:ctrlPr>
                        </m:dPr>
                        <m:e>
                          <m:r>
                            <a:rPr lang="en-IN" sz="2400" b="1" i="1"/>
                            <m:t>𝒏</m:t>
                          </m:r>
                        </m:e>
                      </m:d>
                    </m:oMath>
                  </m:oMathPara>
                </a14:m>
                <a:endParaRPr lang="en-IN" sz="2800" b="1" dirty="0"/>
              </a:p>
              <a:p>
                <a:pPr algn="ctr"/>
                <a:endParaRPr lang="en-IN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FB7F43C-C66F-7EC6-0CBE-7BE85A76C5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258" y="0"/>
                <a:ext cx="6390968" cy="1172792"/>
              </a:xfrm>
              <a:prstGeom prst="roundRect">
                <a:avLst/>
              </a:prstGeom>
              <a:blipFill>
                <a:blip r:embed="rId3"/>
                <a:stretch>
                  <a:fillRect t="-102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414B40-87AF-334D-2F72-3A0FCE9E8F64}"/>
                  </a:ext>
                </a:extLst>
              </p:cNvPr>
              <p:cNvSpPr txBox="1"/>
              <p:nvPr/>
            </p:nvSpPr>
            <p:spPr>
              <a:xfrm>
                <a:off x="5260258" y="1172792"/>
                <a:ext cx="6972806" cy="5219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ym typeface="Wingdings" panose="05000000000000000000" pitchFamily="2" charset="2"/>
                  </a:rPr>
                  <a:t></a:t>
                </a:r>
                <a:r>
                  <a:rPr lang="en-IN" dirty="0"/>
                  <a:t>The given sequence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𝑎</m:t>
                        </m:r>
                      </m:e>
                      <m:sup>
                        <m:r>
                          <a:rPr lang="en-IN" i="1"/>
                          <m:t>𝑛</m:t>
                        </m:r>
                      </m:sup>
                    </m:sSup>
                    <m:r>
                      <a:rPr lang="en-IN" i="1"/>
                      <m:t>𝑢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is a causal infinite-duration sequence, i.e.,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𝑥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/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i="1"/>
                                    </m:ctrlPr>
                                  </m:sSupPr>
                                  <m:e>
                                    <m:r>
                                      <a:rPr lang="en-IN" i="1"/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i="1"/>
                                      <m:t>𝑛</m:t>
                                    </m:r>
                                  </m:sup>
                                </m:sSup>
                                <m:r>
                                  <a:rPr lang="en-IN"/>
                                  <m:t>,</m:t>
                                </m:r>
                              </m:e>
                              <m:e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/>
                                  <m:t>0,</m:t>
                                </m:r>
                              </m:e>
                              <m:e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because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𝑢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/>
                              </m:ctrlPr>
                            </m:mPr>
                            <m:mr>
                              <m:e>
                                <m:r>
                                  <a:rPr lang="en-IN"/>
                                  <m:t>1,</m:t>
                                </m:r>
                              </m:e>
                              <m:e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/>
                                  <m:t>0,</m:t>
                                </m:r>
                              </m:e>
                              <m:e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∴  </a:t>
                </a:r>
                <a14:m>
                  <m:oMath xmlns:m="http://schemas.openxmlformats.org/officeDocument/2006/math">
                    <m:r>
                      <a:rPr lang="en-IN" i="1"/>
                      <m:t>𝑍</m:t>
                    </m:r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𝑥</m:t>
                        </m:r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𝑛</m:t>
                            </m:r>
                          </m:e>
                        </m:d>
                      </m:e>
                    </m:d>
                    <m:r>
                      <a:rPr lang="en-IN"/>
                      <m:t>=</m:t>
                    </m:r>
                    <m:r>
                      <a:rPr lang="en-IN" i="1"/>
                      <m:t>𝑍</m:t>
                    </m:r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𝑎</m:t>
                            </m:r>
                          </m:e>
                          <m:sup>
                            <m:r>
                              <a:rPr lang="en-IN" i="1"/>
                              <m:t>𝑛</m:t>
                            </m:r>
                          </m:sup>
                        </m:sSup>
                        <m:r>
                          <a:rPr lang="en-IN" i="1"/>
                          <m:t>𝑢</m:t>
                        </m:r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𝑛</m:t>
                            </m:r>
                          </m:e>
                        </m:d>
                      </m:e>
                    </m:d>
                    <m:r>
                      <a:rPr lang="en-IN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IN" i="1"/>
                        </m:ctrlPr>
                      </m:naryPr>
                      <m:sub>
                        <m:r>
                          <a:rPr lang="en-IN" i="1"/>
                          <m:t>𝑛</m:t>
                        </m:r>
                        <m:r>
                          <a:rPr lang="en-IN"/>
                          <m:t>=0</m:t>
                        </m:r>
                      </m:sub>
                      <m:sup>
                        <m:r>
                          <a:rPr lang="en-IN"/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𝑎</m:t>
                            </m:r>
                          </m:e>
                          <m:sup>
                            <m:r>
                              <a:rPr lang="en-IN" i="1"/>
                              <m:t>𝑛</m:t>
                            </m:r>
                          </m:sup>
                        </m:sSup>
                      </m:e>
                    </m:nary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𝑧</m:t>
                        </m:r>
                      </m:e>
                      <m:sup>
                        <m:r>
                          <a:rPr lang="en-IN"/>
                          <m:t>−</m:t>
                        </m:r>
                        <m:r>
                          <a:rPr lang="en-IN" i="1"/>
                          <m:t>𝑛</m:t>
                        </m:r>
                      </m:sup>
                    </m:sSup>
                  </m:oMath>
                </a14:m>
                <a:endParaRPr lang="en-IN" dirty="0"/>
              </a:p>
              <a:p>
                <a14:m>
                  <m:oMathPara xmlns:m="http://schemas.openxmlformats.org/officeDocument/2006/math">
                    <m:oMath>
                      <m:r>
                        <a:rPr lang="en-IN"/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i="1"/>
                          </m:ctrlPr>
                        </m:naryPr>
                        <m:sub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=0</m:t>
                          </m:r>
                        </m:sub>
                        <m:sup>
                          <m:r>
                            <a:rPr lang="en-IN"/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IN" i="1"/>
                              </m:ctrlPr>
                            </m:sSupPr>
                            <m:e>
                              <m:r>
                                <a:rPr lang="en-IN" i="1"/>
                                <m:t>𝑎</m:t>
                              </m:r>
                            </m:e>
                            <m:sup>
                              <m:r>
                                <a:rPr lang="en-IN" i="1"/>
                                <m:t>𝑛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en-IN" i="1"/>
                          </m:ctrlPr>
                        </m:sSupPr>
                        <m:e>
                          <m:r>
                            <a:rPr lang="en-IN" i="1"/>
                            <m:t>𝑧</m:t>
                          </m:r>
                        </m:e>
                        <m:sup>
                          <m:r>
                            <a:rPr lang="en-IN"/>
                            <m:t>−</m:t>
                          </m:r>
                          <m:r>
                            <a:rPr lang="en-IN" i="1"/>
                            <m:t>𝑛</m:t>
                          </m:r>
                        </m:sup>
                      </m:sSup>
                      <m:r>
                        <a:rPr lang="en-IN"/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i="1"/>
                          </m:ctrlPr>
                        </m:naryPr>
                        <m:sub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=0</m:t>
                          </m:r>
                        </m:sub>
                        <m:sup>
                          <m:r>
                            <a:rPr lang="en-IN"/>
                            <m:t>∞</m:t>
                          </m:r>
                        </m:sup>
                        <m:e>
                          <m:r>
                            <a:rPr lang="en-IN"/>
                            <m:t>[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𝑎</m:t>
                          </m:r>
                          <m:sSup>
                            <m:sSupPr>
                              <m:ctrlPr>
                                <a:rPr lang="en-IN" i="1"/>
                              </m:ctrlPr>
                            </m:sSupPr>
                            <m:e>
                              <m:r>
                                <a:rPr lang="en-IN" i="1"/>
                                <m:t>𝑧</m:t>
                              </m:r>
                            </m:e>
                            <m:sup>
                              <m:r>
                                <a:rPr lang="en-IN"/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i="1"/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IN"/>
                                  </m:ctrlPr>
                                </m:dPr>
                                <m:e>
                                  <m:r>
                                    <a:rPr lang="en-IN"/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/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  <a:p>
                <a14:m>
                  <m:oMathPara xmlns:m="http://schemas.openxmlformats.org/officeDocument/2006/math">
                    <m:oMath>
                      <m:r>
                        <a:rPr lang="en-IN"/>
                        <m:t>=1+</m:t>
                      </m:r>
                      <m:r>
                        <a:rPr lang="en-IN" i="1"/>
                        <m:t>𝑎</m:t>
                      </m:r>
                      <m:sSup>
                        <m:sSupPr>
                          <m:ctrlPr>
                            <a:rPr lang="en-IN" i="1"/>
                          </m:ctrlPr>
                        </m:sSupPr>
                        <m:e>
                          <m:r>
                            <a:rPr lang="en-IN" i="1"/>
                            <m:t>𝑧</m:t>
                          </m:r>
                        </m:e>
                        <m:sup>
                          <m:r>
                            <a:rPr lang="en-IN"/>
                            <m:t>−1</m:t>
                          </m:r>
                        </m:sup>
                      </m:sSup>
                      <m:r>
                        <a:rPr lang="en-IN"/>
                        <m:t>+</m:t>
                      </m:r>
                      <m:sSup>
                        <m:sSupPr>
                          <m:ctrlPr>
                            <a:rPr lang="en-IN" i="1"/>
                          </m:ctrlPr>
                        </m:sSupPr>
                        <m:e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𝑎</m:t>
                              </m:r>
                              <m:sSup>
                                <m:sSupPr>
                                  <m:ctrlPr>
                                    <a:rPr lang="en-IN" i="1"/>
                                  </m:ctrlPr>
                                </m:sSupPr>
                                <m:e>
                                  <m:r>
                                    <a:rPr lang="en-IN" i="1"/>
                                    <m:t>𝑧</m:t>
                                  </m:r>
                                </m:e>
                                <m:sup>
                                  <m:r>
                                    <a:rPr lang="en-IN"/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IN"/>
                            <m:t>2</m:t>
                          </m:r>
                        </m:sup>
                      </m:sSup>
                      <m:r>
                        <a:rPr lang="en-IN"/>
                        <m:t>+</m:t>
                      </m:r>
                      <m:sSup>
                        <m:sSupPr>
                          <m:ctrlPr>
                            <a:rPr lang="en-IN" i="1"/>
                          </m:ctrlPr>
                        </m:sSupPr>
                        <m:e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𝑎</m:t>
                              </m:r>
                              <m:sSup>
                                <m:sSupPr>
                                  <m:ctrlPr>
                                    <a:rPr lang="en-IN" i="1"/>
                                  </m:ctrlPr>
                                </m:sSupPr>
                                <m:e>
                                  <m:r>
                                    <a:rPr lang="en-IN" i="1"/>
                                    <m:t>𝑧</m:t>
                                  </m:r>
                                </m:e>
                                <m:sup>
                                  <m:r>
                                    <a:rPr lang="en-IN"/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IN"/>
                            <m:t>3</m:t>
                          </m:r>
                        </m:sup>
                      </m:sSup>
                      <m:r>
                        <a:rPr lang="en-IN"/>
                        <m:t>+⋯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This is a geometric series of infinite length, and converges if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/>
                        <m:t>∣</m:t>
                      </m:r>
                      <m:r>
                        <a:rPr lang="en-IN" i="1"/>
                        <m:t>𝑎</m:t>
                      </m:r>
                      <m:sSup>
                        <m:sSupPr>
                          <m:ctrlPr>
                            <a:rPr lang="en-IN" i="1"/>
                          </m:ctrlPr>
                        </m:sSupPr>
                        <m:e>
                          <m:r>
                            <a:rPr lang="en-IN" i="1"/>
                            <m:t>𝑧</m:t>
                          </m:r>
                        </m:e>
                        <m:sup>
                          <m:r>
                            <a:rPr lang="en-IN"/>
                            <m:t>−1</m:t>
                          </m:r>
                        </m:sup>
                      </m:sSup>
                      <m:r>
                        <a:rPr lang="en-IN"/>
                        <m:t>∣&lt;1, </m:t>
                      </m:r>
                      <m:r>
                        <m:rPr>
                          <m:nor/>
                        </m:rPr>
                        <a:rPr lang="en-IN"/>
                        <m:t>i.e., if </m:t>
                      </m:r>
                      <m:r>
                        <a:rPr lang="en-IN"/>
                        <m:t>∣</m:t>
                      </m:r>
                      <m:r>
                        <a:rPr lang="en-IN" i="1"/>
                        <m:t>𝑧</m:t>
                      </m:r>
                      <m:r>
                        <a:rPr lang="en-IN"/>
                        <m:t>∣&gt;∣</m:t>
                      </m:r>
                      <m:r>
                        <a:rPr lang="en-IN" i="1"/>
                        <m:t>𝑎</m:t>
                      </m:r>
                      <m:r>
                        <a:rPr lang="en-IN"/>
                        <m:t>∣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Hence,</a:t>
                </a:r>
              </a:p>
              <a:p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i="1"/>
                          </m:ctrlPr>
                        </m:borderBoxPr>
                        <m:e>
                          <m:r>
                            <a:rPr lang="en-IN" i="1"/>
                            <m:t>𝑋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𝑧</m:t>
                              </m:r>
                            </m:e>
                          </m:d>
                          <m:r>
                            <a:rPr lang="en-IN"/>
                            <m:t>=</m:t>
                          </m:r>
                          <m:f>
                            <m:fPr>
                              <m:ctrlPr>
                                <a:rPr lang="en-IN"/>
                              </m:ctrlPr>
                            </m:fPr>
                            <m:num>
                              <m:r>
                                <a:rPr lang="en-IN"/>
                                <m:t>1</m:t>
                              </m:r>
                            </m:num>
                            <m:den>
                              <m:r>
                                <a:rPr lang="en-IN"/>
                                <m:t>1−</m:t>
                              </m:r>
                              <m:r>
                                <a:rPr lang="en-IN" i="1"/>
                                <m:t>𝑎</m:t>
                              </m:r>
                              <m:sSup>
                                <m:sSupPr>
                                  <m:ctrlPr>
                                    <a:rPr lang="en-IN" i="1"/>
                                  </m:ctrlPr>
                                </m:sSupPr>
                                <m:e>
                                  <m:r>
                                    <a:rPr lang="en-IN" i="1"/>
                                    <m:t>𝑧</m:t>
                                  </m:r>
                                </m:e>
                                <m:sup>
                                  <m:r>
                                    <a:rPr lang="en-IN"/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en-IN"/>
                            <m:t>=</m:t>
                          </m:r>
                          <m:f>
                            <m:fPr>
                              <m:ctrlPr>
                                <a:rPr lang="en-IN" i="1"/>
                              </m:ctrlPr>
                            </m:fPr>
                            <m:num>
                              <m:r>
                                <a:rPr lang="en-IN" i="1"/>
                                <m:t>𝑧</m:t>
                              </m:r>
                            </m:num>
                            <m:den>
                              <m:r>
                                <a:rPr lang="en-IN" i="1"/>
                                <m:t>𝑧</m:t>
                              </m:r>
                              <m:r>
                                <a:rPr lang="en-IN"/>
                                <m:t>−</m:t>
                              </m:r>
                              <m:r>
                                <a:rPr lang="en-IN" i="1"/>
                                <m:t>𝑎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ROC: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/>
                      <m:t>∣</m:t>
                    </m:r>
                    <m:r>
                      <a:rPr lang="en-IN" i="1"/>
                      <m:t>𝑧</m:t>
                    </m:r>
                    <m:r>
                      <a:rPr lang="en-IN"/>
                      <m:t>∣&gt;∣</m:t>
                    </m:r>
                    <m:r>
                      <a:rPr lang="en-IN" i="1"/>
                      <m:t>𝑎</m:t>
                    </m:r>
                    <m:r>
                      <a:rPr lang="en-IN"/>
                      <m:t>∣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414B40-87AF-334D-2F72-3A0FCE9E8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258" y="1172792"/>
                <a:ext cx="6972806" cy="5219699"/>
              </a:xfrm>
              <a:prstGeom prst="rect">
                <a:avLst/>
              </a:prstGeom>
              <a:blipFill>
                <a:blip r:embed="rId4"/>
                <a:stretch>
                  <a:fillRect l="-787" t="-7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3480" y="201168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solidFill>
                  <a:srgbClr val="000000"/>
                </a:solidFill>
                <a:latin typeface="Arial"/>
              </a:rPr>
              <a:t>Applications &amp; real-world 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1FCDD-9282-0D24-9A57-A3B4888A73EF}"/>
              </a:ext>
            </a:extLst>
          </p:cNvPr>
          <p:cNvSpPr txBox="1"/>
          <p:nvPr/>
        </p:nvSpPr>
        <p:spPr>
          <a:xfrm>
            <a:off x="206476" y="1091380"/>
            <a:ext cx="1155290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DIGITAL FILTERS</a:t>
            </a:r>
          </a:p>
          <a:p>
            <a:r>
              <a:rPr lang="en-IN" dirty="0"/>
              <a:t>Analyse FIR/IIR filters, poles and zeros, and frequency response.</a:t>
            </a:r>
          </a:p>
          <a:p>
            <a:r>
              <a:rPr lang="en-IN" b="1" dirty="0"/>
              <a:t>Example:</a:t>
            </a:r>
            <a:r>
              <a:rPr lang="en-IN" dirty="0"/>
              <a:t> Removing unwanted noise from audio or sensor signals.</a:t>
            </a:r>
          </a:p>
          <a:p>
            <a:endParaRPr lang="en-IN" dirty="0"/>
          </a:p>
          <a:p>
            <a:r>
              <a:rPr lang="en-IN" b="1" dirty="0"/>
              <a:t>2. CONTROL SYSTEMS</a:t>
            </a:r>
          </a:p>
          <a:p>
            <a:r>
              <a:rPr lang="en-IN" dirty="0"/>
              <a:t>Analyse discrete controllers and system stability in digital control systems.</a:t>
            </a:r>
          </a:p>
          <a:p>
            <a:r>
              <a:rPr lang="en-IN" b="1" dirty="0"/>
              <a:t>Example:</a:t>
            </a:r>
            <a:r>
              <a:rPr lang="en-IN" dirty="0"/>
              <a:t> Controlling motor speed in a robot.</a:t>
            </a:r>
          </a:p>
          <a:p>
            <a:endParaRPr lang="en-IN" b="1" dirty="0"/>
          </a:p>
          <a:p>
            <a:r>
              <a:rPr lang="en-IN" b="1" dirty="0"/>
              <a:t>3. DIFFERENCE EQUATIONS</a:t>
            </a:r>
          </a:p>
          <a:p>
            <a:r>
              <a:rPr lang="en-IN" dirty="0"/>
              <a:t>Convert recursive input-output equations into algebraic equations that are easier to solve.</a:t>
            </a:r>
          </a:p>
          <a:p>
            <a:r>
              <a:rPr lang="en-IN" b="1" dirty="0"/>
              <a:t>Example:</a:t>
            </a:r>
            <a:r>
              <a:rPr lang="en-IN" dirty="0"/>
              <a:t> Calculating the output of a discrete-time system.</a:t>
            </a:r>
          </a:p>
          <a:p>
            <a:endParaRPr lang="en-IN" b="1" dirty="0"/>
          </a:p>
          <a:p>
            <a:r>
              <a:rPr lang="en-IN" b="1" dirty="0"/>
              <a:t>4. SIGNAL PROCESSING</a:t>
            </a:r>
          </a:p>
          <a:p>
            <a:r>
              <a:rPr lang="en-IN" dirty="0"/>
              <a:t>Represent and analyse sampled audio, vibration, biomedical, and communication signals.</a:t>
            </a:r>
          </a:p>
          <a:p>
            <a:r>
              <a:rPr lang="en-IN" b="1" dirty="0"/>
              <a:t>Example:</a:t>
            </a:r>
            <a:r>
              <a:rPr lang="en-IN" dirty="0"/>
              <a:t> Processing digital audio signals.</a:t>
            </a:r>
          </a:p>
          <a:p>
            <a:endParaRPr lang="en-IN" b="1" dirty="0"/>
          </a:p>
          <a:p>
            <a:r>
              <a:rPr lang="en-IN" b="1" dirty="0"/>
              <a:t>5. SYSTEM DESIGN</a:t>
            </a:r>
          </a:p>
          <a:p>
            <a:r>
              <a:rPr lang="en-IN" dirty="0"/>
              <a:t>Use poles, zeros, and the Region of Convergence (ROC) to analyse system stability and causality.</a:t>
            </a:r>
          </a:p>
          <a:p>
            <a:r>
              <a:rPr lang="en-IN" b="1" dirty="0"/>
              <a:t>Example:</a:t>
            </a:r>
            <a:r>
              <a:rPr lang="en-IN" dirty="0"/>
              <a:t> Checking whether a system is stable and whether its Z-transform exists.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dirty="0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9177" y="159758"/>
            <a:ext cx="1051560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rPr lang="en-US" dirty="0">
                <a:solidFill>
                  <a:srgbClr val="000000"/>
                </a:solidFill>
                <a:latin typeface="Arial"/>
              </a:rPr>
              <a:t>Questions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841164"/>
            <a:ext cx="10607040" cy="90435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1.</a:t>
            </a:r>
            <a:r>
              <a:rPr sz="2400" dirty="0">
                <a:solidFill>
                  <a:srgbClr val="000000"/>
                </a:solidFill>
                <a:latin typeface="Arial"/>
              </a:rPr>
              <a:t>Find the</a:t>
            </a:r>
            <a:r>
              <a:rPr lang="en-IN" sz="240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X(z) </a:t>
            </a:r>
            <a:r>
              <a:rPr sz="2400" dirty="0">
                <a:solidFill>
                  <a:srgbClr val="000000"/>
                </a:solidFill>
                <a:latin typeface="Arial"/>
              </a:rPr>
              <a:t>of: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2400" dirty="0">
                <a:solidFill>
                  <a:srgbClr val="000000"/>
                </a:solidFill>
                <a:latin typeface="Arial"/>
              </a:rPr>
              <a:t>x[n] = d(n+3),</a:t>
            </a:r>
          </a:p>
          <a:p>
            <a:pPr>
              <a:spcAft>
                <a:spcPts val="5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endParaRPr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070606" y="1182283"/>
            <a:ext cx="10146890" cy="51706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rPr lang="en-US" dirty="0">
                <a:solidFill>
                  <a:srgbClr val="000000"/>
                </a:solidFill>
                <a:latin typeface="Arial"/>
              </a:rPr>
              <a:t>2.</a:t>
            </a:r>
            <a:r>
              <a:rPr lang="en-IN" dirty="0">
                <a:solidFill>
                  <a:srgbClr val="000000"/>
                </a:solidFill>
                <a:latin typeface="Arial"/>
              </a:rPr>
              <a:t> Find the  X(z) and ROC of:</a:t>
            </a:r>
            <a:r>
              <a:rPr lang="en-IN" sz="2400" b="1" dirty="0">
                <a:solidFill>
                  <a:srgbClr val="000000"/>
                </a:solidFill>
                <a:latin typeface="Arial"/>
              </a:rPr>
              <a:t> x(n) =-</a:t>
            </a:r>
            <a:r>
              <a:rPr lang="en-IN" sz="2400" b="1" dirty="0" err="1">
                <a:solidFill>
                  <a:srgbClr val="000000"/>
                </a:solidFill>
                <a:latin typeface="Arial"/>
              </a:rPr>
              <a:t>a^nu</a:t>
            </a:r>
            <a:r>
              <a:rPr lang="en-IN" sz="2400" b="1" dirty="0">
                <a:solidFill>
                  <a:srgbClr val="000000"/>
                </a:solidFill>
                <a:latin typeface="Arial"/>
              </a:rPr>
              <a:t>(-n -1) 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E71C9E-AEA3-6E59-7EBD-242F09FB2CB1}"/>
              </a:ext>
            </a:extLst>
          </p:cNvPr>
          <p:cNvSpPr/>
          <p:nvPr/>
        </p:nvSpPr>
        <p:spPr>
          <a:xfrm>
            <a:off x="6469626" y="3293806"/>
            <a:ext cx="511277" cy="363794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963A3A-4D3B-DD55-5A72-B688809BB6DE}"/>
              </a:ext>
            </a:extLst>
          </p:cNvPr>
          <p:cNvSpPr/>
          <p:nvPr/>
        </p:nvSpPr>
        <p:spPr>
          <a:xfrm>
            <a:off x="868680" y="5397910"/>
            <a:ext cx="10465308" cy="136176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F42EE-A8A5-2AB3-6386-E78559C9571B}"/>
              </a:ext>
            </a:extLst>
          </p:cNvPr>
          <p:cNvSpPr txBox="1"/>
          <p:nvPr/>
        </p:nvSpPr>
        <p:spPr>
          <a:xfrm>
            <a:off x="8226159" y="6513576"/>
            <a:ext cx="309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Answer:Z^3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10D7A-F8AE-04F8-4125-156EF691BF52}"/>
              </a:ext>
            </a:extLst>
          </p:cNvPr>
          <p:cNvSpPr txBox="1"/>
          <p:nvPr/>
        </p:nvSpPr>
        <p:spPr>
          <a:xfrm>
            <a:off x="619412" y="29153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rgbClr val="000000"/>
                </a:solidFill>
                <a:latin typeface="Arial"/>
              </a:rPr>
              <a:t>06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958D8-728D-66B6-9A25-BDA6FC76114B}"/>
              </a:ext>
            </a:extLst>
          </p:cNvPr>
          <p:cNvSpPr txBox="1"/>
          <p:nvPr/>
        </p:nvSpPr>
        <p:spPr>
          <a:xfrm>
            <a:off x="1140521" y="445428"/>
            <a:ext cx="2520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Solution of Q.2:</a:t>
            </a:r>
            <a:endParaRPr lang="en-IN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2345A1-55B1-ED37-D178-4D72182DFFD9}"/>
                  </a:ext>
                </a:extLst>
              </p:cNvPr>
              <p:cNvSpPr txBox="1"/>
              <p:nvPr/>
            </p:nvSpPr>
            <p:spPr>
              <a:xfrm>
                <a:off x="3798434" y="291539"/>
                <a:ext cx="10639015" cy="695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(b)</a:t>
                </a:r>
                <a:r>
                  <a:rPr lang="en-IN" dirty="0"/>
                  <a:t> The given signal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IN" dirty="0"/>
                  <a:t>is a non-causal infinite duration sequence, i.e.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≤−1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because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i="0"/>
                                  <m:t>for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≤−1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i="0"/>
                                  <m:t>for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∴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begChr m:val="["/>
                          <m:endChr m:val="]"/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This is a geometric series of infinite length and converges if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∣&lt;1 </m:t>
                      </m:r>
                      <m:r>
                        <m:rPr>
                          <m:nor/>
                        </m:rPr>
                        <a:rPr lang="en-IN" i="0"/>
                        <m:t>or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∣&lt;∣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∣.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Hence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grow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IN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IN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ROC: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∣&lt;∣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en-IN" dirty="0"/>
              </a:p>
              <a:p>
                <a:pPr>
                  <a:spcAft>
                    <a:spcPts val="500"/>
                  </a:spcAft>
                  <a:defRPr sz="2100" b="1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dirty="0">
                    <a:solidFill>
                      <a:srgbClr val="000000"/>
                    </a:solidFill>
                    <a:latin typeface="Arial"/>
                  </a:rPr>
                  <a:t>X(z) = </a:t>
                </a:r>
                <a:r>
                  <a:rPr lang="el-GR" dirty="0">
                    <a:solidFill>
                      <a:srgbClr val="000000"/>
                    </a:solidFill>
                    <a:latin typeface="Arial"/>
                  </a:rPr>
                  <a:t>Σ </a:t>
                </a:r>
                <a:r>
                  <a:rPr lang="en-IN" dirty="0">
                    <a:solidFill>
                      <a:srgbClr val="000000"/>
                    </a:solidFill>
                    <a:latin typeface="Arial"/>
                  </a:rPr>
                  <a:t>x[n] z⁻ⁿ,   n = −∞ To ∞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2345A1-55B1-ED37-D178-4D72182DF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434" y="291539"/>
                <a:ext cx="10639015" cy="6954789"/>
              </a:xfrm>
              <a:prstGeom prst="rect">
                <a:avLst/>
              </a:prstGeom>
              <a:blipFill>
                <a:blip r:embed="rId2"/>
                <a:stretch>
                  <a:fillRect l="-688" t="-526" b="-7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5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939</Words>
  <Application>Microsoft Office PowerPoint</Application>
  <PresentationFormat>Widescreen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Z-Transform Chapter 10 - Simple White Theme</dc:title>
  <dc:subject>Six-slide educational presentation based on A. Anand Kumar, Signals and Systems, 3rd Edition</dc:subject>
  <dc:creator>OpenAI</dc:creator>
  <cp:keywords/>
  <dc:description>generated using python-pptx</dc:description>
  <cp:lastModifiedBy>SHIVAM PATEL</cp:lastModifiedBy>
  <cp:revision>10</cp:revision>
  <dcterms:created xsi:type="dcterms:W3CDTF">2013-01-27T09:14:16Z</dcterms:created>
  <dcterms:modified xsi:type="dcterms:W3CDTF">2026-10-26T08:22:41Z</dcterms:modified>
  <cp:category/>
</cp:coreProperties>
</file>